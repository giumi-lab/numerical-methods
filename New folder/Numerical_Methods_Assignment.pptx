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3616696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dirty="0"/>
              <a:t>NUMERICAL METHODS</a:t>
            </a:r>
          </a:p>
          <a:p>
            <a:pPr>
              <a:defRPr sz="2800" b="1"/>
            </a:pPr>
            <a:endParaRPr lang="en-US" dirty="0"/>
          </a:p>
          <a:p>
            <a:pPr>
              <a:defRPr sz="2800" b="1"/>
            </a:pPr>
            <a:r>
              <a:rPr dirty="0"/>
              <a:t>1. SECANT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3743654" cy="12464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endParaRPr lang="en-US" dirty="0"/>
          </a:p>
          <a:p>
            <a:pPr>
              <a:defRPr sz="1500"/>
            </a:pPr>
            <a:endParaRPr lang="en-US" dirty="0"/>
          </a:p>
          <a:p>
            <a:pPr>
              <a:defRPr sz="1500"/>
            </a:pPr>
            <a:endParaRPr lang="en-US" dirty="0"/>
          </a:p>
          <a:p>
            <a:pPr>
              <a:defRPr sz="1500"/>
            </a:pPr>
            <a:endParaRPr lang="en-US" dirty="0"/>
          </a:p>
          <a:p>
            <a:pPr>
              <a:defRPr sz="1500"/>
            </a:pPr>
            <a:r>
              <a:rPr dirty="0"/>
              <a:t>Solve x³ − x − 2 = 0; x₀=1, x₁=2; tolerance=10⁻⁶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503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endParaRPr lang="en-US" dirty="0"/>
          </a:p>
          <a:p>
            <a:pPr>
              <a:spcAft>
                <a:spcPts val="800"/>
              </a:spcAft>
              <a:defRPr sz="2000"/>
            </a:pPr>
            <a:endParaRPr lang="en-US" dirty="0"/>
          </a:p>
          <a:p>
            <a:pPr>
              <a:spcAft>
                <a:spcPts val="800"/>
              </a:spcAft>
              <a:defRPr sz="2000"/>
            </a:pPr>
            <a:endParaRPr lang="en-US"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Formula: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xᵢ₊₁ = xᵢ − f(xᵢ)(xᵢ−xᵢ₋₁) / [f(xᵢ)−f(xᵢ₋₁)]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First step: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f(1)=−2, f(2)=4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x₂ = 2 − 4(1)/(4−(−2)) = 1.333333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Final root ≈ 1.5213797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SECANT ITERATIONS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i    x(i-1)       x(i)          x(i+1)          f(x(i+1))</a:t>
            </a:r>
          </a:p>
          <a:p>
            <a:pPr>
              <a:spcAft>
                <a:spcPts val="800"/>
              </a:spcAft>
              <a:defRPr sz="1800"/>
            </a:pPr>
            <a:r>
              <a:t>1    1.0000000   2.0000000   1.3333333     -9.630e-01</a:t>
            </a:r>
          </a:p>
          <a:p>
            <a:pPr>
              <a:spcAft>
                <a:spcPts val="800"/>
              </a:spcAft>
              <a:defRPr sz="1800"/>
            </a:pPr>
            <a:r>
              <a:t>2    2.0000000   1.3333333   1.4626866     -3.333e-01</a:t>
            </a:r>
          </a:p>
          <a:p>
            <a:pPr>
              <a:spcAft>
                <a:spcPts val="800"/>
              </a:spcAft>
              <a:defRPr sz="1800"/>
            </a:pPr>
            <a:r>
              <a:t>3    1.3333333   1.4626866   1.5311694     5.863e-02</a:t>
            </a:r>
          </a:p>
          <a:p>
            <a:pPr>
              <a:spcAft>
                <a:spcPts val="800"/>
              </a:spcAft>
              <a:defRPr sz="1800"/>
            </a:pPr>
            <a:r>
              <a:t>4    1.4626866   1.5311694   1.5209264     -2.693e-03</a:t>
            </a:r>
          </a:p>
          <a:p>
            <a:pPr>
              <a:spcAft>
                <a:spcPts val="800"/>
              </a:spcAft>
              <a:defRPr sz="1800"/>
            </a:pPr>
            <a:r>
              <a:t>5    1.5311694   1.5209264   1.5213763     -2.015e-05</a:t>
            </a:r>
          </a:p>
          <a:p>
            <a:pPr>
              <a:spcAft>
                <a:spcPts val="800"/>
              </a:spcAft>
              <a:defRPr sz="1800"/>
            </a:pPr>
            <a:r>
              <a:t>6    1.5209264   1.5213763   1.5213797     7.015e-09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SECANT: FOR AND WHILE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FOR loop:</a:t>
            </a:r>
          </a:p>
          <a:p>
            <a:pPr>
              <a:spcAft>
                <a:spcPts val="800"/>
              </a:spcAft>
              <a:defRPr sz="1700"/>
            </a:pPr>
            <a:r>
              <a:t>for i = 1:maxit</a:t>
            </a:r>
          </a:p>
          <a:p>
            <a:pPr>
              <a:spcAft>
                <a:spcPts val="800"/>
              </a:spcAft>
              <a:defRPr sz="1700"/>
            </a:pPr>
            <a:r>
              <a:t>    x2 = x1 - f(x1)*(x1-x0)/(f(x1)-f(x0));</a:t>
            </a:r>
          </a:p>
          <a:p>
            <a:pPr>
              <a:spcAft>
                <a:spcPts val="800"/>
              </a:spcAft>
              <a:defRPr sz="1700"/>
            </a:pPr>
            <a:r>
              <a:t>    if abs(f(x2)) &lt; tol, break, end</a:t>
            </a:r>
          </a:p>
          <a:p>
            <a:pPr>
              <a:spcAft>
                <a:spcPts val="800"/>
              </a:spcAft>
              <a:defRPr sz="1700"/>
            </a:pPr>
            <a:r>
              <a:t>    x0=x1; x1=x2;</a:t>
            </a:r>
          </a:p>
          <a:p>
            <a:pPr>
              <a:spcAft>
                <a:spcPts val="800"/>
              </a:spcAft>
              <a:defRPr sz="1700"/>
            </a:pPr>
            <a:r>
              <a:t>end</a:t>
            </a:r>
          </a:p>
          <a:p>
            <a:pPr>
              <a:spcAft>
                <a:spcPts val="800"/>
              </a:spcAft>
              <a:defRPr sz="1700"/>
            </a:pPr>
            <a:endParaRPr/>
          </a:p>
          <a:p>
            <a:pPr>
              <a:spcAft>
                <a:spcPts val="800"/>
              </a:spcAft>
              <a:defRPr sz="1700"/>
            </a:pPr>
            <a:r>
              <a:t>WHILE loop:</a:t>
            </a:r>
          </a:p>
          <a:p>
            <a:pPr>
              <a:spcAft>
                <a:spcPts val="800"/>
              </a:spcAft>
              <a:defRPr sz="1700"/>
            </a:pPr>
            <a:r>
              <a:t>while i &lt; maxit &amp;&amp; err &gt; tol</a:t>
            </a:r>
          </a:p>
          <a:p>
            <a:pPr>
              <a:spcAft>
                <a:spcPts val="800"/>
              </a:spcAft>
              <a:defRPr sz="1700"/>
            </a:pPr>
            <a:r>
              <a:t>    i=i+1;</a:t>
            </a:r>
          </a:p>
          <a:p>
            <a:pPr>
              <a:spcAft>
                <a:spcPts val="800"/>
              </a:spcAft>
              <a:defRPr sz="1700"/>
            </a:pPr>
            <a:r>
              <a:t>    x2=x1-f(x1)*(x1-x0)/(f(x1)-f(x0));</a:t>
            </a:r>
          </a:p>
          <a:p>
            <a:pPr>
              <a:spcAft>
                <a:spcPts val="800"/>
              </a:spcAft>
              <a:defRPr sz="1700"/>
            </a:pPr>
            <a:r>
              <a:t>    err=abs(f(x2)); x0=x1; x1=x2;</a:t>
            </a:r>
          </a:p>
          <a:p>
            <a:pPr>
              <a:spcAft>
                <a:spcPts val="800"/>
              </a:spcAft>
              <a:defRPr sz="1700"/>
            </a:pPr>
            <a:r>
              <a:t>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SECANT FLOWCHART</a:t>
            </a:r>
          </a:p>
        </p:txBody>
      </p:sp>
      <p:pic>
        <p:nvPicPr>
          <p:cNvPr id="3" name="Picture 2" descr="secant_profess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960120"/>
            <a:ext cx="7132320" cy="59345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NEWTON-RAPHSON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Solve x² − 5 = 0; x₀=2; tolerance=10⁻⁶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f(x)=x²−5,   f′(x)=2x</a:t>
            </a:r>
          </a:p>
          <a:p>
            <a:pPr>
              <a:spcAft>
                <a:spcPts val="800"/>
              </a:spcAft>
              <a:defRPr sz="2000"/>
            </a:pPr>
            <a:r>
              <a:t>Formula: xᵢ₊₁ = xᵢ − f(xᵢ)/f′(xᵢ)</a:t>
            </a: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>
              <a:spcAft>
                <a:spcPts val="800"/>
              </a:spcAft>
              <a:defRPr sz="2000"/>
            </a:pPr>
            <a:r>
              <a:t>First step:</a:t>
            </a:r>
          </a:p>
          <a:p>
            <a:pPr>
              <a:spcAft>
                <a:spcPts val="800"/>
              </a:spcAft>
              <a:defRPr sz="2000"/>
            </a:pPr>
            <a:r>
              <a:t>x₁ = 2 − (4−5)/4 = 2.25</a:t>
            </a: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>
              <a:spcAft>
                <a:spcPts val="800"/>
              </a:spcAft>
              <a:defRPr sz="2000"/>
            </a:pPr>
            <a:r>
              <a:t>Converged root ≈ 2.2360680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NEWTON-RAPHSON ITERATIONS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i    x(i)          x(i+1)        f(x(i+1))</a:t>
            </a:r>
          </a:p>
          <a:p>
            <a:pPr>
              <a:spcAft>
                <a:spcPts val="800"/>
              </a:spcAft>
              <a:defRPr sz="1800"/>
            </a:pPr>
            <a:r>
              <a:t>1    2.00000000   2.25000000   6.250e-02</a:t>
            </a:r>
          </a:p>
          <a:p>
            <a:pPr>
              <a:spcAft>
                <a:spcPts val="800"/>
              </a:spcAft>
              <a:defRPr sz="1800"/>
            </a:pPr>
            <a:r>
              <a:t>2    2.25000000   2.23611111   1.929e-04</a:t>
            </a:r>
          </a:p>
          <a:p>
            <a:pPr>
              <a:spcAft>
                <a:spcPts val="800"/>
              </a:spcAft>
              <a:defRPr sz="1800"/>
            </a:pPr>
            <a:r>
              <a:t>3    2.23611111   2.23606798   1.860e-09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NEWTON-RAPHSON: FOR AND WHILE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FOR loop:</a:t>
            </a:r>
          </a:p>
          <a:p>
            <a:pPr>
              <a:spcAft>
                <a:spcPts val="800"/>
              </a:spcAft>
              <a:defRPr sz="1700"/>
            </a:pPr>
            <a:r>
              <a:t>for i = 1:maxit</a:t>
            </a:r>
          </a:p>
          <a:p>
            <a:pPr>
              <a:spcAft>
                <a:spcPts val="800"/>
              </a:spcAft>
              <a:defRPr sz="1700"/>
            </a:pPr>
            <a:r>
              <a:t>    x1 = x0 - f(x0)/df(x0);</a:t>
            </a:r>
          </a:p>
          <a:p>
            <a:pPr>
              <a:spcAft>
                <a:spcPts val="800"/>
              </a:spcAft>
              <a:defRPr sz="1700"/>
            </a:pPr>
            <a:r>
              <a:t>    if abs(f(x1)) &lt; tol, break, end</a:t>
            </a:r>
          </a:p>
          <a:p>
            <a:pPr>
              <a:spcAft>
                <a:spcPts val="800"/>
              </a:spcAft>
              <a:defRPr sz="1700"/>
            </a:pPr>
            <a:r>
              <a:t>    x0=x1;</a:t>
            </a:r>
          </a:p>
          <a:p>
            <a:pPr>
              <a:spcAft>
                <a:spcPts val="800"/>
              </a:spcAft>
              <a:defRPr sz="1700"/>
            </a:pPr>
            <a:r>
              <a:t>end</a:t>
            </a:r>
          </a:p>
          <a:p>
            <a:pPr>
              <a:spcAft>
                <a:spcPts val="800"/>
              </a:spcAft>
              <a:defRPr sz="1700"/>
            </a:pPr>
            <a:endParaRPr/>
          </a:p>
          <a:p>
            <a:pPr>
              <a:spcAft>
                <a:spcPts val="800"/>
              </a:spcAft>
              <a:defRPr sz="1700"/>
            </a:pPr>
            <a:r>
              <a:t>WHILE loop:</a:t>
            </a:r>
          </a:p>
          <a:p>
            <a:pPr>
              <a:spcAft>
                <a:spcPts val="800"/>
              </a:spcAft>
              <a:defRPr sz="1700"/>
            </a:pPr>
            <a:r>
              <a:t>while i &lt; maxit &amp;&amp; err &gt; tol</a:t>
            </a:r>
          </a:p>
          <a:p>
            <a:pPr>
              <a:spcAft>
                <a:spcPts val="800"/>
              </a:spcAft>
              <a:defRPr sz="1700"/>
            </a:pPr>
            <a:r>
              <a:t>    i=i+1;</a:t>
            </a:r>
          </a:p>
          <a:p>
            <a:pPr>
              <a:spcAft>
                <a:spcPts val="800"/>
              </a:spcAft>
              <a:defRPr sz="1700"/>
            </a:pPr>
            <a:r>
              <a:t>    x1=x0-f(x0)/df(x0);</a:t>
            </a:r>
          </a:p>
          <a:p>
            <a:pPr>
              <a:spcAft>
                <a:spcPts val="800"/>
              </a:spcAft>
              <a:defRPr sz="1700"/>
            </a:pPr>
            <a:r>
              <a:t>    err=abs(f(x1)); x0=x1;</a:t>
            </a:r>
          </a:p>
          <a:p>
            <a:pPr>
              <a:spcAft>
                <a:spcPts val="800"/>
              </a:spcAft>
              <a:defRPr sz="1700"/>
            </a:pPr>
            <a:r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NEWTON-RAPHSON FLOWCHART</a:t>
            </a:r>
          </a:p>
        </p:txBody>
      </p:sp>
      <p:pic>
        <p:nvPicPr>
          <p:cNvPr id="3" name="Picture 2" descr="newton_profess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960120"/>
            <a:ext cx="7132320" cy="59345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FOURTH-ORDER RUNGE-KUTTA (RK4)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Solve y′=x+y, y(0)=1, h=0.1, find y(0.3)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k₁ = h f(x,y)</a:t>
            </a:r>
          </a:p>
          <a:p>
            <a:pPr>
              <a:spcAft>
                <a:spcPts val="800"/>
              </a:spcAft>
              <a:defRPr sz="1900"/>
            </a:pPr>
            <a:r>
              <a:t>k₂ = h f(x+h/2, y+k₁/2)</a:t>
            </a:r>
          </a:p>
          <a:p>
            <a:pPr>
              <a:spcAft>
                <a:spcPts val="800"/>
              </a:spcAft>
              <a:defRPr sz="1900"/>
            </a:pPr>
            <a:r>
              <a:t>k₃ = h f(x+h/2, y+k₂/2)</a:t>
            </a:r>
          </a:p>
          <a:p>
            <a:pPr>
              <a:spcAft>
                <a:spcPts val="800"/>
              </a:spcAft>
              <a:defRPr sz="1900"/>
            </a:pPr>
            <a:r>
              <a:t>k₄ = h f(x+h, y+k₃)</a:t>
            </a:r>
          </a:p>
          <a:p>
            <a:pPr>
              <a:spcAft>
                <a:spcPts val="800"/>
              </a:spcAft>
              <a:defRPr sz="1900"/>
            </a:pPr>
            <a:r>
              <a:t>yₙ₊₁ = yₙ + (k₁+2k₂+2k₃+k₄)/6</a:t>
            </a:r>
          </a:p>
          <a:p>
            <a:pPr>
              <a:spcAft>
                <a:spcPts val="800"/>
              </a:spcAft>
              <a:defRPr sz="1900"/>
            </a:pPr>
            <a:endParaRPr/>
          </a:p>
          <a:p>
            <a:pPr>
              <a:spcAft>
                <a:spcPts val="800"/>
              </a:spcAft>
              <a:defRPr sz="1900"/>
            </a:pPr>
            <a:r>
              <a:t>Result: y(0.3) ≈ 1.3997176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RK4 ITERATIONS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463040"/>
            <a:ext cx="11430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Step   x        y           k1        k2        k3        k4        y(next)</a:t>
            </a:r>
          </a:p>
          <a:p>
            <a:pPr>
              <a:spcAft>
                <a:spcPts val="800"/>
              </a:spcAft>
              <a:defRPr sz="1400"/>
            </a:pPr>
            <a:r>
              <a:t>1     0.0    1.00000000  0.100000  0.110000  0.110500  0.121050  1.11034167</a:t>
            </a:r>
          </a:p>
          <a:p>
            <a:pPr>
              <a:spcAft>
                <a:spcPts val="800"/>
              </a:spcAft>
              <a:defRPr sz="1400"/>
            </a:pPr>
            <a:r>
              <a:t>2     0.1    1.11034167  0.121034  0.132086  0.132638  0.144298  1.24280514</a:t>
            </a:r>
          </a:p>
          <a:p>
            <a:pPr>
              <a:spcAft>
                <a:spcPts val="800"/>
              </a:spcAft>
              <a:defRPr sz="1400"/>
            </a:pPr>
            <a:r>
              <a:t>3     0.2    1.24280514  0.144281  0.156495  0.157105  0.169991  1.39971699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RK4: FOR AND WHILE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FOR loop:</a:t>
            </a:r>
          </a:p>
          <a:p>
            <a:pPr>
              <a:spcAft>
                <a:spcPts val="800"/>
              </a:spcAft>
              <a:defRPr sz="1500"/>
            </a:pPr>
            <a:r>
              <a:t>for i=1:n</a:t>
            </a:r>
          </a:p>
          <a:p>
            <a:pPr>
              <a:spcAft>
                <a:spcPts val="800"/>
              </a:spcAft>
              <a:defRPr sz="1500"/>
            </a:pPr>
            <a:r>
              <a:t>    k1=h*f(x,y); k2=h*f(x+h/2,y+k1/2);</a:t>
            </a:r>
          </a:p>
          <a:p>
            <a:pPr>
              <a:spcAft>
                <a:spcPts val="800"/>
              </a:spcAft>
              <a:defRPr sz="1500"/>
            </a:pPr>
            <a:r>
              <a:t>    k3=h*f(x+h/2,y+k2/2); k4=h*f(x+h,y+k3);</a:t>
            </a:r>
          </a:p>
          <a:p>
            <a:pPr>
              <a:spcAft>
                <a:spcPts val="800"/>
              </a:spcAft>
              <a:defRPr sz="1500"/>
            </a:pPr>
            <a:r>
              <a:t>    y=y+(k1+2*k2+2*k3+k4)/6; x=x+h;</a:t>
            </a:r>
          </a:p>
          <a:p>
            <a:pPr>
              <a:spcAft>
                <a:spcPts val="800"/>
              </a:spcAft>
              <a:defRPr sz="1500"/>
            </a:pPr>
            <a:r>
              <a:t>end</a:t>
            </a:r>
          </a:p>
          <a:p>
            <a:pPr>
              <a:spcAft>
                <a:spcPts val="800"/>
              </a:spcAft>
              <a:defRPr sz="1500"/>
            </a:pPr>
            <a:endParaRPr/>
          </a:p>
          <a:p>
            <a:pPr>
              <a:spcAft>
                <a:spcPts val="800"/>
              </a:spcAft>
              <a:defRPr sz="1500"/>
            </a:pPr>
            <a:r>
              <a:t>WHILE loop:</a:t>
            </a:r>
          </a:p>
          <a:p>
            <a:pPr>
              <a:spcAft>
                <a:spcPts val="800"/>
              </a:spcAft>
              <a:defRPr sz="1500"/>
            </a:pPr>
            <a:r>
              <a:t>while x &lt; xend</a:t>
            </a:r>
          </a:p>
          <a:p>
            <a:pPr>
              <a:spcAft>
                <a:spcPts val="800"/>
              </a:spcAft>
              <a:defRPr sz="1500"/>
            </a:pPr>
            <a:r>
              <a:t>    k1=h*f(x,y); k2=h*f(x+h/2,y+k1/2);</a:t>
            </a:r>
          </a:p>
          <a:p>
            <a:pPr>
              <a:spcAft>
                <a:spcPts val="800"/>
              </a:spcAft>
              <a:defRPr sz="1500"/>
            </a:pPr>
            <a:r>
              <a:t>    k3=h*f(x+h/2,y+k2/2); k4=h*f(x+h,y+k3);</a:t>
            </a:r>
          </a:p>
          <a:p>
            <a:pPr>
              <a:spcAft>
                <a:spcPts val="800"/>
              </a:spcAft>
              <a:defRPr sz="1500"/>
            </a:pPr>
            <a:r>
              <a:t>    y=y+(k1+2*k2+2*k3+k4)/6; x=x+h;</a:t>
            </a:r>
          </a:p>
          <a:p>
            <a:pPr>
              <a:spcAft>
                <a:spcPts val="800"/>
              </a:spcAft>
              <a:defRPr sz="1500"/>
            </a:pPr>
            <a:r>
              <a:t>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RK4 FLOWCHART</a:t>
            </a:r>
          </a:p>
        </p:txBody>
      </p:sp>
      <p:pic>
        <p:nvPicPr>
          <p:cNvPr id="3" name="Picture 2" descr="rk4_profess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960120"/>
            <a:ext cx="7132320" cy="5934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795</Words>
  <Application>Microsoft Office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Senior Omoding</dc:creator>
  <cp:keywords/>
  <dc:description>generated using python-pptx</dc:description>
  <cp:lastModifiedBy>Isaac Omoding</cp:lastModifiedBy>
  <cp:revision>3</cp:revision>
  <dcterms:created xsi:type="dcterms:W3CDTF">2013-01-27T09:14:16Z</dcterms:created>
  <dcterms:modified xsi:type="dcterms:W3CDTF">2026-09-29T14:59:25Z</dcterms:modified>
  <cp:category/>
</cp:coreProperties>
</file>